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Economica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8" roundtripDataSignature="AMtx7miWt8UEFHYvjoSkTaKrIS7MOInh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05AEEE-06C2-498C-85D8-F84DD5F29ECE}">
  <a:tblStyle styleId="{2705AEEE-06C2-498C-85D8-F84DD5F29E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Economica-regular.fntdata"/><Relationship Id="rId22" Type="http://schemas.openxmlformats.org/officeDocument/2006/relationships/font" Target="fonts/Economica-italic.fntdata"/><Relationship Id="rId21" Type="http://schemas.openxmlformats.org/officeDocument/2006/relationships/font" Target="fonts/Economica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Economica-boldItalic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8" Type="http://customschemas.google.com/relationships/presentationmetadata" Target="metadata"/><Relationship Id="rId27" Type="http://schemas.openxmlformats.org/officeDocument/2006/relationships/font" Target="fonts/Open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title"/>
          </p:nvPr>
        </p:nvSpPr>
        <p:spPr>
          <a:xfrm>
            <a:off x="311760" y="316080"/>
            <a:ext cx="8520120" cy="830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311760" y="1225080"/>
            <a:ext cx="8520120" cy="3353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eab3999826_0_333"/>
          <p:cNvSpPr txBox="1"/>
          <p:nvPr>
            <p:ph type="title"/>
          </p:nvPr>
        </p:nvSpPr>
        <p:spPr>
          <a:xfrm>
            <a:off x="311760" y="316080"/>
            <a:ext cx="8520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eab3999826_0_333"/>
          <p:cNvSpPr txBox="1"/>
          <p:nvPr>
            <p:ph idx="1" type="body"/>
          </p:nvPr>
        </p:nvSpPr>
        <p:spPr>
          <a:xfrm>
            <a:off x="311760" y="1225080"/>
            <a:ext cx="8520000" cy="3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eab3999826_0_33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/>
          <p:nvPr/>
        </p:nvSpPr>
        <p:spPr>
          <a:xfrm>
            <a:off x="2743920" y="756720"/>
            <a:ext cx="1081440" cy="112464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CCA67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4"/>
          <p:cNvSpPr/>
          <p:nvPr/>
        </p:nvSpPr>
        <p:spPr>
          <a:xfrm rot="10800000">
            <a:off x="5318640" y="3267000"/>
            <a:ext cx="1081440" cy="112464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rgbClr val="CCA677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4"/>
          <p:cNvSpPr txBox="1"/>
          <p:nvPr>
            <p:ph type="title"/>
          </p:nvPr>
        </p:nvSpPr>
        <p:spPr>
          <a:xfrm>
            <a:off x="3044880" y="1444320"/>
            <a:ext cx="3054240" cy="15368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9" name="Google Shape;9;p14"/>
          <p:cNvSpPr txBox="1"/>
          <p:nvPr>
            <p:ph idx="12"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u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u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u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u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u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u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u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u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u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Google Shape;10;p14"/>
          <p:cNvSpPr txBox="1"/>
          <p:nvPr>
            <p:ph idx="1"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eab3999826_0_328"/>
          <p:cNvSpPr/>
          <p:nvPr/>
        </p:nvSpPr>
        <p:spPr>
          <a:xfrm>
            <a:off x="0" y="5045760"/>
            <a:ext cx="9143700" cy="97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8950" lIns="91425" spcFirstLastPara="1" rIns="91425" wrap="square" tIns="489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g3eab3999826_0_328"/>
          <p:cNvSpPr txBox="1"/>
          <p:nvPr>
            <p:ph type="title"/>
          </p:nvPr>
        </p:nvSpPr>
        <p:spPr>
          <a:xfrm>
            <a:off x="311760" y="316080"/>
            <a:ext cx="8520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8" name="Google Shape;18;g3eab3999826_0_328"/>
          <p:cNvSpPr txBox="1"/>
          <p:nvPr>
            <p:ph idx="1" type="body"/>
          </p:nvPr>
        </p:nvSpPr>
        <p:spPr>
          <a:xfrm>
            <a:off x="311760" y="1225080"/>
            <a:ext cx="8520000" cy="3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9" name="Google Shape;19;g3eab3999826_0_328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1000"/>
              <a:buFont typeface="Economica"/>
              <a:buNone/>
              <a:defRPr b="0" sz="10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"/>
          <p:cNvSpPr txBox="1"/>
          <p:nvPr>
            <p:ph type="title"/>
          </p:nvPr>
        </p:nvSpPr>
        <p:spPr>
          <a:xfrm>
            <a:off x="2743200" y="2971800"/>
            <a:ext cx="3280680" cy="43884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conomica"/>
              <a:buNone/>
            </a:pPr>
            <a:r>
              <a:rPr b="0" lang="uk" sz="24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Веб-система для пошуку та відстежування перегляду фільмів та серіалів з використанням ШІ-асистента</a:t>
            </a:r>
            <a:endParaRPr b="0" sz="2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 txBox="1"/>
          <p:nvPr>
            <p:ph idx="1" type="subTitle"/>
          </p:nvPr>
        </p:nvSpPr>
        <p:spPr>
          <a:xfrm>
            <a:off x="2228040" y="3496680"/>
            <a:ext cx="5087160" cy="15325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366"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Economica"/>
              <a:buNone/>
            </a:pPr>
            <a:r>
              <a:rPr b="0" i="0" lang="uk" sz="21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Виконала: ст. гр. ПЗПІ-23-2 Колодіюк Н. С.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Economica"/>
              <a:buNone/>
            </a:pPr>
            <a:r>
              <a:rPr b="0" i="0" lang="uk" sz="21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Керівник: доц. кафедри ПІ Гліб Терещенко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t/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Economica"/>
              <a:buNone/>
            </a:pPr>
            <a:r>
              <a:rPr b="0" i="0" lang="uk" sz="2100" u="none" cap="none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2026</a:t>
            </a:r>
            <a:endParaRPr b="0" i="0" sz="2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" name="Google Shape;3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840" y="171000"/>
            <a:ext cx="2133720" cy="389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68600" y="171000"/>
            <a:ext cx="1924560" cy="438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"/>
          <p:cNvSpPr txBox="1"/>
          <p:nvPr>
            <p:ph type="title"/>
          </p:nvPr>
        </p:nvSpPr>
        <p:spPr>
          <a:xfrm>
            <a:off x="311950" y="126375"/>
            <a:ext cx="8622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87361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Economica"/>
              <a:buNone/>
            </a:pPr>
            <a:r>
              <a:rPr lang="uk" sz="3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Проблема організації перегляду медіаконтенту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"/>
          <p:cNvSpPr txBox="1"/>
          <p:nvPr>
            <p:ph idx="1" type="body"/>
          </p:nvPr>
        </p:nvSpPr>
        <p:spPr>
          <a:xfrm>
            <a:off x="311950" y="1020600"/>
            <a:ext cx="83772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Сучасний користувач </a:t>
            </a:r>
            <a:r>
              <a:rPr lang="uk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взаємодіє</a:t>
            </a:r>
            <a:r>
              <a:rPr b="0" i="0" lang="uk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з великою кількістю фільмів, серіалів та аніме на різних платформах.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Основні проблеми: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 розрізненість інформації про переглянутий і запланований контент;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 складність відстеження прогресу серіалів за сезонами та епізодами;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 незручність пошуку у великому каталозі;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 відсутність персональної статистики перегляду;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183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- складність вибору наступного фільму або серіалу.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3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8424360" y="4606200"/>
            <a:ext cx="991800" cy="3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uk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"/>
          <p:cNvSpPr txBox="1"/>
          <p:nvPr>
            <p:ph type="title"/>
          </p:nvPr>
        </p:nvSpPr>
        <p:spPr>
          <a:xfrm>
            <a:off x="311760" y="-124920"/>
            <a:ext cx="8520120" cy="8308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conomica"/>
              <a:buNone/>
            </a:pPr>
            <a:r>
              <a:rPr lang="uk" sz="3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Цільова аудиторія</a:t>
            </a:r>
            <a:endParaRPr sz="32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46" name="Google Shape;46;p3"/>
          <p:cNvSpPr txBox="1"/>
          <p:nvPr>
            <p:ph idx="1" type="body"/>
          </p:nvPr>
        </p:nvSpPr>
        <p:spPr>
          <a:xfrm>
            <a:off x="408385" y="855917"/>
            <a:ext cx="8520000" cy="3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Open Sans"/>
              <a:buNone/>
            </a:pPr>
            <a:r>
              <a:rPr b="0" i="0" lang="uk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Система орієнтована на: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183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Open Sans"/>
              <a:buNone/>
            </a:pPr>
            <a:r>
              <a:rPr b="0" i="0" lang="uk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- звичайних глядачів, які періодично дивляться фільми та серіали;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183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Open Sans"/>
              <a:buNone/>
            </a:pPr>
            <a:r>
              <a:rPr b="0" i="0" lang="uk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- активних користувачів, які ведуть списки перегляду;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183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Open Sans"/>
              <a:buNone/>
            </a:pPr>
            <a:r>
              <a:rPr b="0" i="0" lang="uk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- користувачів, яким важливі оцінки, відгуки та соціальна складова;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183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Open Sans"/>
              <a:buNone/>
            </a:pPr>
            <a:r>
              <a:rPr b="0" i="0" lang="uk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- користувачів, які хочуть аналізувати власну історію переглядів;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183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Open Sans"/>
              <a:buNone/>
            </a:pPr>
            <a:r>
              <a:rPr b="0" i="0" lang="uk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- адміністраторів, які керують каталогом і користувацьким контентом.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"/>
          <p:cNvSpPr/>
          <p:nvPr/>
        </p:nvSpPr>
        <p:spPr>
          <a:xfrm>
            <a:off x="8424360" y="4606200"/>
            <a:ext cx="991800" cy="3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uk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"/>
          <p:cNvSpPr txBox="1"/>
          <p:nvPr>
            <p:ph type="title"/>
          </p:nvPr>
        </p:nvSpPr>
        <p:spPr>
          <a:xfrm>
            <a:off x="311760" y="-186120"/>
            <a:ext cx="8520120" cy="8308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conomica"/>
              <a:buNone/>
            </a:pPr>
            <a:r>
              <a:rPr b="0" lang="uk" sz="32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Аналіз аналогів: IMDb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311750" y="1005850"/>
            <a:ext cx="4504800" cy="33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Тип: довідковий каталог фільмів і серіалів.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183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Спрямованість: пошук інформації про фільми, серіали, акторів, рейтинги та відгуки.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183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Переваги: велика база даних, висока впізнаваність, багато метаданих.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183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Проблема: сервіс більше орієнтований на довідковий каталог, ніж на персональне відстеження прогресу перегляду.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/>
          <p:nvPr/>
        </p:nvSpPr>
        <p:spPr>
          <a:xfrm>
            <a:off x="8424360" y="4606200"/>
            <a:ext cx="991800" cy="3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uk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" name="Google Shape;5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4200">
            <a:off x="5030280" y="1467000"/>
            <a:ext cx="3430440" cy="1730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>
            <p:ph type="title"/>
          </p:nvPr>
        </p:nvSpPr>
        <p:spPr>
          <a:xfrm>
            <a:off x="311760" y="-148320"/>
            <a:ext cx="8520120" cy="8308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conomica"/>
              <a:buNone/>
            </a:pPr>
            <a:r>
              <a:rPr b="0" lang="uk" sz="32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Аналіз аналогів: Letterboxd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5"/>
          <p:cNvSpPr txBox="1"/>
          <p:nvPr>
            <p:ph idx="1" type="body"/>
          </p:nvPr>
        </p:nvSpPr>
        <p:spPr>
          <a:xfrm>
            <a:off x="311760" y="1225080"/>
            <a:ext cx="4488840" cy="311832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Тип: соціальна платформа для фільмів.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183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Спрямованість: ведення щоденника переглядів, оцінки, рецензії, списки фільмів.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183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Переваги: сильна соціальна складова, зручні списки та відгуки.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2183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Open Sans"/>
              <a:buNone/>
            </a:pPr>
            <a:r>
              <a:rPr b="0" i="0" lang="uk" sz="1800" u="none" cap="none" strike="noStrike">
                <a:solidFill>
                  <a:srgbClr val="0D0D0D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Проблема: платформа переважно орієнтована на фільми, а підтримка серіального прогресу є обмеженою.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8424360" y="4606200"/>
            <a:ext cx="991800" cy="3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uk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486080"/>
            <a:ext cx="3758760" cy="2114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6"/>
          <p:cNvSpPr txBox="1"/>
          <p:nvPr>
            <p:ph type="title"/>
          </p:nvPr>
        </p:nvSpPr>
        <p:spPr>
          <a:xfrm>
            <a:off x="228600" y="83520"/>
            <a:ext cx="8520120" cy="8308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conomica"/>
              <a:buNone/>
            </a:pPr>
            <a:r>
              <a:rPr b="0" lang="uk" sz="32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Матриця виявлених прогалин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8424360" y="4606200"/>
            <a:ext cx="991800" cy="3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uk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4" name="Google Shape;74;p6"/>
          <p:cNvGraphicFramePr/>
          <p:nvPr/>
        </p:nvGraphicFramePr>
        <p:xfrm>
          <a:off x="1884763" y="1122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{2705AEEE-06C2-498C-85D8-F84DD5F29ECE}</a:tableStyleId>
              </a:tblPr>
              <a:tblGrid>
                <a:gridCol w="1745450"/>
                <a:gridCol w="684300"/>
                <a:gridCol w="927775"/>
                <a:gridCol w="726825"/>
                <a:gridCol w="626325"/>
                <a:gridCol w="726825"/>
              </a:tblGrid>
              <a:tr h="3207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1100"/>
                        <a:t>Критерій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1100"/>
                        <a:t>IMDb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1100"/>
                        <a:t>Letterboxd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1100"/>
                        <a:t>Trakt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1100"/>
                        <a:t>TMDB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uk" sz="1100"/>
                        <a:t>TV Time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22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000"/>
                        <a:t>Каталог фільмів і серіалів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286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000"/>
                        <a:t>Пошук і фільтрація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+-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30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000"/>
                        <a:t>Списки користувача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15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000"/>
                        <a:t>Оцінки та відгуки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+-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2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000"/>
                        <a:t>Прогрес епізодів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11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000"/>
                        <a:t>Персональна статистика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+</a:t>
                      </a:r>
                      <a:endParaRPr sz="1100"/>
                    </a:p>
                  </a:txBody>
                  <a:tcPr marT="91425" marB="91425" marR="91425" marL="91425"/>
                </a:tc>
              </a:tr>
              <a:tr h="320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000"/>
                        <a:t>ШІ-асистент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uk" sz="1100"/>
                        <a:t>-</a:t>
                      </a:r>
                      <a:endParaRPr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 txBox="1"/>
          <p:nvPr>
            <p:ph type="title"/>
          </p:nvPr>
        </p:nvSpPr>
        <p:spPr>
          <a:xfrm>
            <a:off x="400050" y="238125"/>
            <a:ext cx="8343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Постановка задачі</a:t>
            </a:r>
            <a:endParaRPr b="1" sz="3600">
              <a:solidFill>
                <a:srgbClr val="111827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80" name="Google Shape;80;p7"/>
          <p:cNvSpPr txBox="1"/>
          <p:nvPr/>
        </p:nvSpPr>
        <p:spPr>
          <a:xfrm>
            <a:off x="400050" y="857250"/>
            <a:ext cx="8343900" cy="33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" sz="1530">
                <a:latin typeface="Open Sans"/>
                <a:ea typeface="Open Sans"/>
                <a:cs typeface="Open Sans"/>
                <a:sym typeface="Open Sans"/>
              </a:rPr>
              <a:t>Розроблювана серверна частина повинна забезпечувати:</a:t>
            </a:r>
            <a:endParaRPr b="0" sz="1400">
              <a:solidFill>
                <a:srgbClr val="4B556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81" name="Google Shape;81;p7"/>
          <p:cNvGrpSpPr/>
          <p:nvPr/>
        </p:nvGrpSpPr>
        <p:grpSpPr>
          <a:xfrm>
            <a:off x="400050" y="1333500"/>
            <a:ext cx="8343900" cy="2857500"/>
            <a:chOff x="0" y="0"/>
            <a:chExt cx="8343900" cy="2857500"/>
          </a:xfrm>
        </p:grpSpPr>
        <p:grpSp>
          <p:nvGrpSpPr>
            <p:cNvPr id="82" name="Google Shape;82;p7"/>
            <p:cNvGrpSpPr/>
            <p:nvPr/>
          </p:nvGrpSpPr>
          <p:grpSpPr>
            <a:xfrm>
              <a:off x="0" y="0"/>
              <a:ext cx="4076700" cy="2857500"/>
              <a:chOff x="0" y="0"/>
              <a:chExt cx="4076700" cy="2857500"/>
            </a:xfrm>
          </p:grpSpPr>
          <p:sp>
            <p:nvSpPr>
              <p:cNvPr id="83" name="Google Shape;83;p7"/>
              <p:cNvSpPr/>
              <p:nvPr/>
            </p:nvSpPr>
            <p:spPr>
              <a:xfrm>
                <a:off x="0" y="0"/>
                <a:ext cx="4076700" cy="2857500"/>
              </a:xfrm>
              <a:prstGeom prst="roundRect">
                <a:avLst>
                  <a:gd fmla="val 4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7"/>
              <p:cNvSpPr/>
              <p:nvPr/>
            </p:nvSpPr>
            <p:spPr>
              <a:xfrm>
                <a:off x="0" y="0"/>
                <a:ext cx="57300" cy="2857500"/>
              </a:xfrm>
              <a:prstGeom prst="roundRect">
                <a:avLst>
                  <a:gd fmla="val 50000" name="adj"/>
                </a:avLst>
              </a:prstGeom>
              <a:solidFill>
                <a:srgbClr val="3B82F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7"/>
              <p:cNvSpPr txBox="1"/>
              <p:nvPr/>
            </p:nvSpPr>
            <p:spPr>
              <a:xfrm>
                <a:off x="238125" y="190500"/>
                <a:ext cx="36006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-298450" lvl="0" marL="45720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74151"/>
                  </a:buClr>
                  <a:buSzPts val="1100"/>
                  <a:buFont typeface="Open Sans"/>
                  <a:buChar char="●"/>
                </a:pPr>
                <a:r>
                  <a:rPr lang="uk" sz="1530">
                    <a:latin typeface="Open Sans"/>
                    <a:ea typeface="Open Sans"/>
                    <a:cs typeface="Open Sans"/>
                    <a:sym typeface="Open Sans"/>
                  </a:rPr>
                  <a:t>реєстрацію, авторизацію та оновлення токенів</a:t>
                </a:r>
                <a:endParaRPr sz="1530"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374151"/>
                  </a:buClr>
                  <a:buSzPts val="1100"/>
                  <a:buFont typeface="Open Sans"/>
                  <a:buChar char="●"/>
                </a:pPr>
                <a:r>
                  <a:rPr lang="uk" sz="1530">
                    <a:latin typeface="Open Sans"/>
                    <a:ea typeface="Open Sans"/>
                    <a:cs typeface="Open Sans"/>
                    <a:sym typeface="Open Sans"/>
                  </a:rPr>
                  <a:t>роботу з каталогом фільмів і серіалів</a:t>
                </a:r>
                <a:endParaRPr sz="1530"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374151"/>
                  </a:buClr>
                  <a:buSzPts val="1100"/>
                  <a:buFont typeface="Open Sans"/>
                  <a:buChar char="●"/>
                </a:pPr>
                <a:r>
                  <a:rPr lang="uk" sz="1530">
                    <a:latin typeface="Open Sans"/>
                    <a:ea typeface="Open Sans"/>
                    <a:cs typeface="Open Sans"/>
                    <a:sym typeface="Open Sans"/>
                  </a:rPr>
                  <a:t>пошук, фільтрацію та сортування контенту</a:t>
                </a:r>
                <a:endParaRPr sz="1530"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0"/>
                  </a:spcAft>
                  <a:buClr>
                    <a:srgbClr val="374151"/>
                  </a:buClr>
                  <a:buSzPts val="1100"/>
                  <a:buFont typeface="Open Sans"/>
                  <a:buChar char="●"/>
                </a:pPr>
                <a:r>
                  <a:rPr lang="uk" sz="1530">
                    <a:latin typeface="Open Sans"/>
                    <a:ea typeface="Open Sans"/>
                    <a:cs typeface="Open Sans"/>
                    <a:sym typeface="Open Sans"/>
                  </a:rPr>
                  <a:t>перегляд детальної інформації про твори</a:t>
                </a:r>
                <a:endParaRPr sz="1530"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98450" lvl="0" marL="457200" marR="0" rtl="0" algn="l">
                  <a:lnSpc>
                    <a:spcPct val="100000"/>
                  </a:lnSpc>
                  <a:spcBef>
                    <a:spcPts val="900"/>
                  </a:spcBef>
                  <a:spcAft>
                    <a:spcPts val="900"/>
                  </a:spcAft>
                  <a:buClr>
                    <a:srgbClr val="374151"/>
                  </a:buClr>
                  <a:buSzPts val="1100"/>
                  <a:buFont typeface="Open Sans"/>
                  <a:buChar char="●"/>
                </a:pPr>
                <a:r>
                  <a:rPr lang="uk" sz="1530">
                    <a:latin typeface="Open Sans"/>
                    <a:ea typeface="Open Sans"/>
                    <a:cs typeface="Open Sans"/>
                    <a:sym typeface="Open Sans"/>
                  </a:rPr>
                  <a:t>керування користувацькими списками</a:t>
                </a:r>
                <a:endParaRPr sz="1100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86" name="Google Shape;86;p7"/>
            <p:cNvGrpSpPr/>
            <p:nvPr/>
          </p:nvGrpSpPr>
          <p:grpSpPr>
            <a:xfrm>
              <a:off x="4267200" y="0"/>
              <a:ext cx="4076700" cy="2857500"/>
              <a:chOff x="0" y="0"/>
              <a:chExt cx="4076700" cy="2857500"/>
            </a:xfrm>
          </p:grpSpPr>
          <p:sp>
            <p:nvSpPr>
              <p:cNvPr id="87" name="Google Shape;87;p7"/>
              <p:cNvSpPr/>
              <p:nvPr/>
            </p:nvSpPr>
            <p:spPr>
              <a:xfrm>
                <a:off x="0" y="0"/>
                <a:ext cx="4076700" cy="2857500"/>
              </a:xfrm>
              <a:prstGeom prst="roundRect">
                <a:avLst>
                  <a:gd fmla="val 4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5E7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7"/>
              <p:cNvSpPr/>
              <p:nvPr/>
            </p:nvSpPr>
            <p:spPr>
              <a:xfrm>
                <a:off x="0" y="0"/>
                <a:ext cx="57300" cy="2857500"/>
              </a:xfrm>
              <a:prstGeom prst="roundRect">
                <a:avLst>
                  <a:gd fmla="val 50000" name="adj"/>
                </a:avLst>
              </a:prstGeom>
              <a:solidFill>
                <a:srgbClr val="10B981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7"/>
              <p:cNvSpPr txBox="1"/>
              <p:nvPr/>
            </p:nvSpPr>
            <p:spPr>
              <a:xfrm>
                <a:off x="238125" y="190500"/>
                <a:ext cx="3600600" cy="2476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-298450" lvl="0" marL="45720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374151"/>
                  </a:buClr>
                  <a:buSzPts val="1100"/>
                  <a:buFont typeface="Open Sans"/>
                  <a:buChar char="●"/>
                </a:pPr>
                <a:r>
                  <a:rPr lang="uk" sz="1530">
                    <a:latin typeface="Open Sans"/>
                    <a:ea typeface="Open Sans"/>
                    <a:cs typeface="Open Sans"/>
                    <a:sym typeface="Open Sans"/>
                  </a:rPr>
                  <a:t>відстеження перегляду фільмів, сезонів та епізодів</a:t>
                </a:r>
                <a:endParaRPr sz="1530"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984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374151"/>
                  </a:buClr>
                  <a:buSzPts val="1100"/>
                  <a:buFont typeface="Open Sans"/>
                  <a:buChar char="●"/>
                </a:pPr>
                <a:r>
                  <a:rPr lang="uk" sz="1530">
                    <a:latin typeface="Open Sans"/>
                    <a:ea typeface="Open Sans"/>
                    <a:cs typeface="Open Sans"/>
                    <a:sym typeface="Open Sans"/>
                  </a:rPr>
                  <a:t>оцінки, відгуки та голосування</a:t>
                </a:r>
                <a:endParaRPr sz="1530"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984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374151"/>
                  </a:buClr>
                  <a:buSzPts val="1100"/>
                  <a:buFont typeface="Open Sans"/>
                  <a:buChar char="●"/>
                </a:pPr>
                <a:r>
                  <a:rPr lang="uk" sz="1530">
                    <a:latin typeface="Open Sans"/>
                    <a:ea typeface="Open Sans"/>
                    <a:cs typeface="Open Sans"/>
                    <a:sym typeface="Open Sans"/>
                  </a:rPr>
                  <a:t>формування статистики користувача</a:t>
                </a:r>
                <a:endParaRPr sz="1530"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984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374151"/>
                  </a:buClr>
                  <a:buSzPts val="1100"/>
                  <a:buFont typeface="Open Sans"/>
                  <a:buChar char="●"/>
                </a:pPr>
                <a:r>
                  <a:rPr lang="uk" sz="1530">
                    <a:latin typeface="Open Sans"/>
                    <a:ea typeface="Open Sans"/>
                    <a:cs typeface="Open Sans"/>
                    <a:sym typeface="Open Sans"/>
                  </a:rPr>
                  <a:t>інтеграцію із зовнішніми джерелами та ШІ-асистентом</a:t>
                </a:r>
                <a:endParaRPr sz="1530"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-298450" lvl="0" marL="457200" rtl="0" algn="l">
                  <a:spcBef>
                    <a:spcPts val="900"/>
                  </a:spcBef>
                  <a:spcAft>
                    <a:spcPts val="0"/>
                  </a:spcAft>
                  <a:buClr>
                    <a:srgbClr val="374151"/>
                  </a:buClr>
                  <a:buSzPts val="1100"/>
                  <a:buFont typeface="Open Sans"/>
                  <a:buChar char="●"/>
                </a:pPr>
                <a:r>
                  <a:rPr lang="uk" sz="1530">
                    <a:latin typeface="Open Sans"/>
                    <a:ea typeface="Open Sans"/>
                    <a:cs typeface="Open Sans"/>
                    <a:sym typeface="Open Sans"/>
                  </a:rPr>
                  <a:t>адміністративне керування даними</a:t>
                </a:r>
                <a:endParaRPr sz="1100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pic>
        <p:nvPicPr>
          <p:cNvPr id="90" name="Google Shape;90;p7"/>
          <p:cNvPicPr preferRelativeResize="0"/>
          <p:nvPr/>
        </p:nvPicPr>
        <p:blipFill rotWithShape="1">
          <a:blip r:embed="rId4">
            <a:alphaModFix/>
          </a:blip>
          <a:srcRect b="0" l="0" r="0" t="10"/>
          <a:stretch/>
        </p:blipFill>
        <p:spPr>
          <a:xfrm>
            <a:off x="342900" y="4381500"/>
            <a:ext cx="861900" cy="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7"/>
          <p:cNvSpPr/>
          <p:nvPr/>
        </p:nvSpPr>
        <p:spPr>
          <a:xfrm>
            <a:off x="8477250" y="4572000"/>
            <a:ext cx="285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"/>
          <p:cNvSpPr txBox="1"/>
          <p:nvPr>
            <p:ph type="title"/>
          </p:nvPr>
        </p:nvSpPr>
        <p:spPr>
          <a:xfrm>
            <a:off x="400050" y="190500"/>
            <a:ext cx="8343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conomica"/>
              <a:buNone/>
            </a:pPr>
            <a:r>
              <a:rPr lang="uk" sz="3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Загальна архітектурна модель</a:t>
            </a:r>
            <a:endParaRPr sz="3200">
              <a:solidFill>
                <a:schemeClr val="dk1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pic>
        <p:nvPicPr>
          <p:cNvPr id="97" name="Google Shape;9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25" y="4221992"/>
            <a:ext cx="833572" cy="56233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8"/>
          <p:cNvSpPr/>
          <p:nvPr/>
        </p:nvSpPr>
        <p:spPr>
          <a:xfrm>
            <a:off x="8506135" y="4398075"/>
            <a:ext cx="9918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uk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8"/>
          <p:cNvSpPr txBox="1"/>
          <p:nvPr/>
        </p:nvSpPr>
        <p:spPr>
          <a:xfrm>
            <a:off x="400050" y="839700"/>
            <a:ext cx="8343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" sz="1530">
                <a:latin typeface="Open Sans"/>
                <a:ea typeface="Open Sans"/>
                <a:cs typeface="Open Sans"/>
                <a:sym typeface="Open Sans"/>
              </a:rPr>
              <a:t>Backend Watchly побудовано як ASP.NET Core Web API з логічним поділом на шари за чистою архітектурою:</a:t>
            </a:r>
            <a:endParaRPr sz="1530"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00" name="Google Shape;100;p8"/>
          <p:cNvGrpSpPr/>
          <p:nvPr/>
        </p:nvGrpSpPr>
        <p:grpSpPr>
          <a:xfrm>
            <a:off x="395754" y="1433325"/>
            <a:ext cx="8070220" cy="598890"/>
            <a:chOff x="0" y="0"/>
            <a:chExt cx="8343900" cy="619200"/>
          </a:xfrm>
        </p:grpSpPr>
        <p:sp>
          <p:nvSpPr>
            <p:cNvPr id="101" name="Google Shape;101;p8"/>
            <p:cNvSpPr/>
            <p:nvPr/>
          </p:nvSpPr>
          <p:spPr>
            <a:xfrm>
              <a:off x="0" y="0"/>
              <a:ext cx="8343900" cy="619200"/>
            </a:xfrm>
            <a:prstGeom prst="roundRect">
              <a:avLst>
                <a:gd fmla="val 12307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8"/>
            <p:cNvSpPr/>
            <p:nvPr/>
          </p:nvSpPr>
          <p:spPr>
            <a:xfrm>
              <a:off x="0" y="0"/>
              <a:ext cx="57300" cy="619200"/>
            </a:xfrm>
            <a:prstGeom prst="roundRect">
              <a:avLst>
                <a:gd fmla="val 50000" name="adj"/>
              </a:avLst>
            </a:prstGeom>
            <a:solidFill>
              <a:srgbClr val="3B82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8"/>
            <p:cNvSpPr txBox="1"/>
            <p:nvPr/>
          </p:nvSpPr>
          <p:spPr>
            <a:xfrm>
              <a:off x="190500" y="0"/>
              <a:ext cx="7962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354">
                  <a:solidFill>
                    <a:srgbClr val="1E3A8A"/>
                  </a:solidFill>
                  <a:latin typeface="Open Sans"/>
                  <a:ea typeface="Open Sans"/>
                  <a:cs typeface="Open Sans"/>
                  <a:sym typeface="Open Sans"/>
                </a:rPr>
                <a:t>Watchly.Api</a:t>
              </a:r>
              <a:endParaRPr b="1" sz="1354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61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rPr>
                <a:t>HTTP-контролери, middleware, JWT, OpenAPI</a:t>
              </a:r>
              <a:endParaRPr sz="116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4" name="Google Shape;104;p8"/>
          <p:cNvGrpSpPr/>
          <p:nvPr/>
        </p:nvGrpSpPr>
        <p:grpSpPr>
          <a:xfrm>
            <a:off x="395754" y="2078208"/>
            <a:ext cx="8070220" cy="598890"/>
            <a:chOff x="0" y="0"/>
            <a:chExt cx="8343900" cy="619200"/>
          </a:xfrm>
        </p:grpSpPr>
        <p:sp>
          <p:nvSpPr>
            <p:cNvPr id="105" name="Google Shape;105;p8"/>
            <p:cNvSpPr/>
            <p:nvPr/>
          </p:nvSpPr>
          <p:spPr>
            <a:xfrm>
              <a:off x="0" y="0"/>
              <a:ext cx="8343900" cy="619200"/>
            </a:xfrm>
            <a:prstGeom prst="roundRect">
              <a:avLst>
                <a:gd fmla="val 12307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8"/>
            <p:cNvSpPr/>
            <p:nvPr/>
          </p:nvSpPr>
          <p:spPr>
            <a:xfrm>
              <a:off x="0" y="0"/>
              <a:ext cx="57300" cy="619200"/>
            </a:xfrm>
            <a:prstGeom prst="roundRect">
              <a:avLst>
                <a:gd fmla="val 50000" name="adj"/>
              </a:avLst>
            </a:prstGeom>
            <a:solidFill>
              <a:srgbClr val="10B98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8"/>
            <p:cNvSpPr txBox="1"/>
            <p:nvPr/>
          </p:nvSpPr>
          <p:spPr>
            <a:xfrm>
              <a:off x="190500" y="0"/>
              <a:ext cx="7962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354">
                  <a:solidFill>
                    <a:srgbClr val="064E3B"/>
                  </a:solidFill>
                  <a:latin typeface="Open Sans"/>
                  <a:ea typeface="Open Sans"/>
                  <a:cs typeface="Open Sans"/>
                  <a:sym typeface="Open Sans"/>
                </a:rPr>
                <a:t>Watchly.Application</a:t>
              </a:r>
              <a:endParaRPr b="1" sz="1354">
                <a:solidFill>
                  <a:srgbClr val="064E3B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61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rPr>
                <a:t>use cases, application services, бізнес-операції</a:t>
              </a:r>
              <a:endParaRPr sz="116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08" name="Google Shape;108;p8"/>
          <p:cNvGrpSpPr/>
          <p:nvPr/>
        </p:nvGrpSpPr>
        <p:grpSpPr>
          <a:xfrm>
            <a:off x="395754" y="2723092"/>
            <a:ext cx="8070220" cy="598890"/>
            <a:chOff x="0" y="0"/>
            <a:chExt cx="8343900" cy="619200"/>
          </a:xfrm>
        </p:grpSpPr>
        <p:sp>
          <p:nvSpPr>
            <p:cNvPr id="109" name="Google Shape;109;p8"/>
            <p:cNvSpPr/>
            <p:nvPr/>
          </p:nvSpPr>
          <p:spPr>
            <a:xfrm>
              <a:off x="0" y="0"/>
              <a:ext cx="8343900" cy="619200"/>
            </a:xfrm>
            <a:prstGeom prst="roundRect">
              <a:avLst>
                <a:gd fmla="val 12307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8"/>
            <p:cNvSpPr/>
            <p:nvPr/>
          </p:nvSpPr>
          <p:spPr>
            <a:xfrm>
              <a:off x="0" y="0"/>
              <a:ext cx="57300" cy="619200"/>
            </a:xfrm>
            <a:prstGeom prst="roundRect">
              <a:avLst>
                <a:gd fmla="val 50000" name="adj"/>
              </a:avLst>
            </a:prstGeom>
            <a:solidFill>
              <a:srgbClr val="F59E0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8"/>
            <p:cNvSpPr txBox="1"/>
            <p:nvPr/>
          </p:nvSpPr>
          <p:spPr>
            <a:xfrm>
              <a:off x="190500" y="0"/>
              <a:ext cx="7962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354">
                  <a:solidFill>
                    <a:srgbClr val="78350F"/>
                  </a:solidFill>
                  <a:latin typeface="Open Sans"/>
                  <a:ea typeface="Open Sans"/>
                  <a:cs typeface="Open Sans"/>
                  <a:sym typeface="Open Sans"/>
                </a:rPr>
                <a:t>Watchly.Domain</a:t>
              </a:r>
              <a:endParaRPr b="1" sz="1354">
                <a:solidFill>
                  <a:srgbClr val="78350F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61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rPr>
                <a:t>доменні сутності та правила предметної області</a:t>
              </a:r>
              <a:endParaRPr sz="116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2" name="Google Shape;112;p8"/>
          <p:cNvGrpSpPr/>
          <p:nvPr/>
        </p:nvGrpSpPr>
        <p:grpSpPr>
          <a:xfrm>
            <a:off x="395754" y="3367975"/>
            <a:ext cx="8070220" cy="598890"/>
            <a:chOff x="0" y="0"/>
            <a:chExt cx="8343900" cy="619200"/>
          </a:xfrm>
        </p:grpSpPr>
        <p:sp>
          <p:nvSpPr>
            <p:cNvPr id="113" name="Google Shape;113;p8"/>
            <p:cNvSpPr/>
            <p:nvPr/>
          </p:nvSpPr>
          <p:spPr>
            <a:xfrm>
              <a:off x="0" y="0"/>
              <a:ext cx="8343900" cy="619200"/>
            </a:xfrm>
            <a:prstGeom prst="roundRect">
              <a:avLst>
                <a:gd fmla="val 12307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8"/>
            <p:cNvSpPr/>
            <p:nvPr/>
          </p:nvSpPr>
          <p:spPr>
            <a:xfrm>
              <a:off x="0" y="0"/>
              <a:ext cx="57300" cy="619200"/>
            </a:xfrm>
            <a:prstGeom prst="roundRect">
              <a:avLst>
                <a:gd fmla="val 50000" name="adj"/>
              </a:avLst>
            </a:prstGeom>
            <a:solidFill>
              <a:srgbClr val="8B5C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8"/>
            <p:cNvSpPr txBox="1"/>
            <p:nvPr/>
          </p:nvSpPr>
          <p:spPr>
            <a:xfrm>
              <a:off x="190500" y="0"/>
              <a:ext cx="7962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354">
                  <a:solidFill>
                    <a:srgbClr val="4C1D95"/>
                  </a:solidFill>
                  <a:latin typeface="Open Sans"/>
                  <a:ea typeface="Open Sans"/>
                  <a:cs typeface="Open Sans"/>
                  <a:sym typeface="Open Sans"/>
                </a:rPr>
                <a:t>Watchly.Infrastructure</a:t>
              </a:r>
              <a:endParaRPr b="1" sz="1354">
                <a:solidFill>
                  <a:srgbClr val="4C1D95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61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rPr>
                <a:t>PostgreSQL, Redis, зовнішні API, email, Cloudinary</a:t>
              </a:r>
              <a:endParaRPr sz="116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  <p:grpSp>
        <p:nvGrpSpPr>
          <p:cNvPr id="116" name="Google Shape;116;p8"/>
          <p:cNvGrpSpPr/>
          <p:nvPr/>
        </p:nvGrpSpPr>
        <p:grpSpPr>
          <a:xfrm>
            <a:off x="395754" y="4012859"/>
            <a:ext cx="8070220" cy="598890"/>
            <a:chOff x="0" y="0"/>
            <a:chExt cx="8343900" cy="619200"/>
          </a:xfrm>
        </p:grpSpPr>
        <p:sp>
          <p:nvSpPr>
            <p:cNvPr id="117" name="Google Shape;117;p8"/>
            <p:cNvSpPr/>
            <p:nvPr/>
          </p:nvSpPr>
          <p:spPr>
            <a:xfrm>
              <a:off x="0" y="0"/>
              <a:ext cx="8343900" cy="619200"/>
            </a:xfrm>
            <a:prstGeom prst="roundRect">
              <a:avLst>
                <a:gd fmla="val 12307" name="adj"/>
              </a:avLst>
            </a:prstGeom>
            <a:solidFill>
              <a:srgbClr val="F3F4F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0" y="0"/>
              <a:ext cx="57300" cy="619200"/>
            </a:xfrm>
            <a:prstGeom prst="roundRect">
              <a:avLst>
                <a:gd fmla="val 50000" name="adj"/>
              </a:avLst>
            </a:prstGeom>
            <a:solidFill>
              <a:srgbClr val="6B728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8"/>
            <p:cNvSpPr txBox="1"/>
            <p:nvPr/>
          </p:nvSpPr>
          <p:spPr>
            <a:xfrm>
              <a:off x="190500" y="0"/>
              <a:ext cx="79629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uk" sz="1354">
                  <a:solidFill>
                    <a:srgbClr val="1F2937"/>
                  </a:solidFill>
                  <a:latin typeface="Open Sans"/>
                  <a:ea typeface="Open Sans"/>
                  <a:cs typeface="Open Sans"/>
                  <a:sym typeface="Open Sans"/>
                </a:rPr>
                <a:t>Watchly.Shared</a:t>
              </a:r>
              <a:endParaRPr b="1" sz="1354">
                <a:solidFill>
                  <a:srgbClr val="1F2937"/>
                </a:solidFill>
                <a:latin typeface="Open Sans"/>
                <a:ea typeface="Open Sans"/>
                <a:cs typeface="Open Sans"/>
                <a:sym typeface="Open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uk" sz="1161">
                  <a:solidFill>
                    <a:srgbClr val="374151"/>
                  </a:solidFill>
                  <a:latin typeface="Open Sans"/>
                  <a:ea typeface="Open Sans"/>
                  <a:cs typeface="Open Sans"/>
                  <a:sym typeface="Open Sans"/>
                </a:rPr>
                <a:t>спільні DTO, результати операцій, допоміжні моделі</a:t>
              </a:r>
              <a:endParaRPr sz="1161">
                <a:solidFill>
                  <a:srgbClr val="374151"/>
                </a:solidFill>
                <a:latin typeface="Open Sans"/>
                <a:ea typeface="Open Sans"/>
                <a:cs typeface="Open Sans"/>
                <a:sym typeface="Open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/>
          <p:nvPr>
            <p:ph type="title"/>
          </p:nvPr>
        </p:nvSpPr>
        <p:spPr>
          <a:xfrm>
            <a:off x="268920" y="-143640"/>
            <a:ext cx="8520120" cy="8308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conomica"/>
              <a:buNone/>
            </a:pPr>
            <a:r>
              <a:rPr b="0" lang="uk" sz="32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Структура зберігання даних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5" name="Google Shape;12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9"/>
          <p:cNvSpPr/>
          <p:nvPr/>
        </p:nvSpPr>
        <p:spPr>
          <a:xfrm>
            <a:off x="8424360" y="4606200"/>
            <a:ext cx="991800" cy="3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uk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7" name="Google Shape;12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8800" y="693360"/>
            <a:ext cx="5257800" cy="387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0"/>
          <p:cNvSpPr txBox="1"/>
          <p:nvPr>
            <p:ph type="title"/>
          </p:nvPr>
        </p:nvSpPr>
        <p:spPr>
          <a:xfrm>
            <a:off x="166680" y="0"/>
            <a:ext cx="8520120" cy="8308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74983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Economica"/>
              <a:buNone/>
            </a:pPr>
            <a:r>
              <a:rPr b="0" lang="uk" sz="32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Компоненти системи</a:t>
            </a:r>
            <a:br>
              <a:rPr lang="uk" sz="3200"/>
            </a:br>
            <a:endParaRPr b="1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0"/>
          <p:cNvSpPr/>
          <p:nvPr/>
        </p:nvSpPr>
        <p:spPr>
          <a:xfrm>
            <a:off x="8424360" y="4606200"/>
            <a:ext cx="991800" cy="3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uk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5" name="Google Shape;135;p10" title="image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1410" y="567842"/>
            <a:ext cx="4846772" cy="40078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"/>
          <p:cNvSpPr txBox="1"/>
          <p:nvPr>
            <p:ph type="title"/>
          </p:nvPr>
        </p:nvSpPr>
        <p:spPr>
          <a:xfrm>
            <a:off x="268920" y="109085"/>
            <a:ext cx="8520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Economica"/>
              <a:buNone/>
            </a:pPr>
            <a:r>
              <a:rPr b="0" lang="uk" sz="32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Програмні рішення та технологічний стек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1" name="Google Shape;141;p11"/>
          <p:cNvGrpSpPr/>
          <p:nvPr/>
        </p:nvGrpSpPr>
        <p:grpSpPr>
          <a:xfrm>
            <a:off x="381000" y="1143000"/>
            <a:ext cx="8382000" cy="3095775"/>
            <a:chOff x="0" y="0"/>
            <a:chExt cx="8382000" cy="3095775"/>
          </a:xfrm>
        </p:grpSpPr>
        <p:grpSp>
          <p:nvGrpSpPr>
            <p:cNvPr id="142" name="Google Shape;142;p11"/>
            <p:cNvGrpSpPr/>
            <p:nvPr/>
          </p:nvGrpSpPr>
          <p:grpSpPr>
            <a:xfrm>
              <a:off x="0" y="0"/>
              <a:ext cx="4000500" cy="3095775"/>
              <a:chOff x="0" y="0"/>
              <a:chExt cx="4000500" cy="3095775"/>
            </a:xfrm>
          </p:grpSpPr>
          <p:sp>
            <p:nvSpPr>
              <p:cNvPr id="143" name="Google Shape;143;p11"/>
              <p:cNvSpPr/>
              <p:nvPr/>
            </p:nvSpPr>
            <p:spPr>
              <a:xfrm>
                <a:off x="0" y="0"/>
                <a:ext cx="40005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11"/>
              <p:cNvSpPr txBox="1"/>
              <p:nvPr/>
            </p:nvSpPr>
            <p:spPr>
              <a:xfrm>
                <a:off x="142875" y="95250"/>
                <a:ext cx="3714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1400">
                    <a:solidFill>
                      <a:srgbClr val="1E293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.NET 8 / ASP.NET Core Web API</a:t>
                </a:r>
                <a:endParaRPr b="1" sz="1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10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реалізація REST API</a:t>
                </a:r>
                <a:endParaRPr sz="11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>
                <a:off x="0" y="809625"/>
                <a:ext cx="40005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 txBox="1"/>
              <p:nvPr/>
            </p:nvSpPr>
            <p:spPr>
              <a:xfrm>
                <a:off x="142875" y="904875"/>
                <a:ext cx="3714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1400">
                    <a:solidFill>
                      <a:srgbClr val="1E293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C#</a:t>
                </a:r>
                <a:endParaRPr b="1" sz="1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10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основна мова програмування</a:t>
                </a:r>
                <a:endParaRPr sz="11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>
                <a:off x="0" y="1619250"/>
                <a:ext cx="40005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1"/>
              <p:cNvSpPr txBox="1"/>
              <p:nvPr/>
            </p:nvSpPr>
            <p:spPr>
              <a:xfrm>
                <a:off x="142875" y="1714500"/>
                <a:ext cx="3714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1400">
                    <a:solidFill>
                      <a:srgbClr val="1E293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Entity Framework Core</a:t>
                </a:r>
                <a:endParaRPr b="1" sz="1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10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доступ до даних і міграції</a:t>
                </a:r>
                <a:endParaRPr sz="11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49" name="Google Shape;149;p11"/>
              <p:cNvSpPr/>
              <p:nvPr/>
            </p:nvSpPr>
            <p:spPr>
              <a:xfrm>
                <a:off x="0" y="2428875"/>
                <a:ext cx="40005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 txBox="1"/>
              <p:nvPr/>
            </p:nvSpPr>
            <p:spPr>
              <a:xfrm>
                <a:off x="142875" y="2524125"/>
                <a:ext cx="3714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1400">
                    <a:solidFill>
                      <a:srgbClr val="1E293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PostgreSQL &amp; Redis</a:t>
                </a:r>
                <a:endParaRPr b="1" sz="1400">
                  <a:solidFill>
                    <a:srgbClr val="1E293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10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транзакційна БД та кешування</a:t>
                </a:r>
                <a:endParaRPr sz="110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51" name="Google Shape;151;p11"/>
            <p:cNvGrpSpPr/>
            <p:nvPr/>
          </p:nvGrpSpPr>
          <p:grpSpPr>
            <a:xfrm>
              <a:off x="4381500" y="0"/>
              <a:ext cx="4000500" cy="3095775"/>
              <a:chOff x="0" y="0"/>
              <a:chExt cx="4000500" cy="3095775"/>
            </a:xfrm>
          </p:grpSpPr>
          <p:sp>
            <p:nvSpPr>
              <p:cNvPr id="152" name="Google Shape;152;p11"/>
              <p:cNvSpPr/>
              <p:nvPr/>
            </p:nvSpPr>
            <p:spPr>
              <a:xfrm>
                <a:off x="0" y="0"/>
                <a:ext cx="40005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F0F9FF"/>
              </a:solidFill>
              <a:ln cap="flat" cmpd="sng" w="9525">
                <a:solidFill>
                  <a:srgbClr val="BAE6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 txBox="1"/>
              <p:nvPr/>
            </p:nvSpPr>
            <p:spPr>
              <a:xfrm>
                <a:off x="142875" y="95250"/>
                <a:ext cx="3714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1400">
                    <a:solidFill>
                      <a:srgbClr val="0369A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ASP.NET Core Identity</a:t>
                </a:r>
                <a:endParaRPr b="1" sz="1400">
                  <a:solidFill>
                    <a:srgbClr val="0369A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100">
                    <a:solidFill>
                      <a:srgbClr val="0C4A6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користувачі, ролі, безпека</a:t>
                </a:r>
                <a:endParaRPr sz="1100">
                  <a:solidFill>
                    <a:srgbClr val="0C4A6E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4" name="Google Shape;154;p11"/>
              <p:cNvSpPr/>
              <p:nvPr/>
            </p:nvSpPr>
            <p:spPr>
              <a:xfrm>
                <a:off x="0" y="809625"/>
                <a:ext cx="40005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F0F9FF"/>
              </a:solidFill>
              <a:ln cap="flat" cmpd="sng" w="9525">
                <a:solidFill>
                  <a:srgbClr val="BAE6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11"/>
              <p:cNvSpPr txBox="1"/>
              <p:nvPr/>
            </p:nvSpPr>
            <p:spPr>
              <a:xfrm>
                <a:off x="142875" y="904875"/>
                <a:ext cx="3714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1400">
                    <a:solidFill>
                      <a:srgbClr val="0369A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Scalar &amp; TMDB API</a:t>
                </a:r>
                <a:endParaRPr b="1" sz="1400">
                  <a:solidFill>
                    <a:srgbClr val="0369A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100">
                    <a:solidFill>
                      <a:srgbClr val="0C4A6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документація та метадані</a:t>
                </a:r>
                <a:endParaRPr sz="1100">
                  <a:solidFill>
                    <a:srgbClr val="0C4A6E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>
                <a:off x="0" y="1619250"/>
                <a:ext cx="40005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F0F9FF"/>
              </a:solidFill>
              <a:ln cap="flat" cmpd="sng" w="9525">
                <a:solidFill>
                  <a:srgbClr val="BAE6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 txBox="1"/>
              <p:nvPr/>
            </p:nvSpPr>
            <p:spPr>
              <a:xfrm>
                <a:off x="142875" y="1714500"/>
                <a:ext cx="3714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1400">
                    <a:solidFill>
                      <a:srgbClr val="0369A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OpenAI API</a:t>
                </a:r>
                <a:endParaRPr b="1" sz="1400">
                  <a:solidFill>
                    <a:srgbClr val="0369A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100">
                    <a:solidFill>
                      <a:srgbClr val="0C4A6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інтеграція ШІ-асистента</a:t>
                </a:r>
                <a:endParaRPr sz="1100">
                  <a:solidFill>
                    <a:srgbClr val="0C4A6E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>
                <a:off x="0" y="2428875"/>
                <a:ext cx="4000500" cy="666900"/>
              </a:xfrm>
              <a:prstGeom prst="roundRect">
                <a:avLst>
                  <a:gd fmla="val 11428" name="adj"/>
                </a:avLst>
              </a:prstGeom>
              <a:solidFill>
                <a:srgbClr val="F0F9FF"/>
              </a:solidFill>
              <a:ln cap="flat" cmpd="sng" w="9525">
                <a:solidFill>
                  <a:srgbClr val="BAE6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11"/>
              <p:cNvSpPr txBox="1"/>
              <p:nvPr/>
            </p:nvSpPr>
            <p:spPr>
              <a:xfrm>
                <a:off x="142875" y="2524125"/>
                <a:ext cx="3714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1400">
                    <a:solidFill>
                      <a:srgbClr val="0369A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Cloudinary &amp; SMTP</a:t>
                </a:r>
                <a:endParaRPr b="1" sz="1400">
                  <a:solidFill>
                    <a:srgbClr val="0369A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uk" sz="1100">
                    <a:solidFill>
                      <a:srgbClr val="0C4A6E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допоміжні зовнішні сервіси</a:t>
                </a:r>
                <a:endParaRPr sz="1100">
                  <a:solidFill>
                    <a:srgbClr val="0C4A6E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pic>
        <p:nvPicPr>
          <p:cNvPr id="160" name="Google Shape;16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/>
          <p:nvPr/>
        </p:nvSpPr>
        <p:spPr>
          <a:xfrm>
            <a:off x="8424360" y="4606200"/>
            <a:ext cx="9918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uk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/>
          <p:nvPr>
            <p:ph type="title"/>
          </p:nvPr>
        </p:nvSpPr>
        <p:spPr>
          <a:xfrm>
            <a:off x="268920" y="-186120"/>
            <a:ext cx="8520120" cy="83088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conomica"/>
              <a:buNone/>
            </a:pPr>
            <a:r>
              <a:rPr b="0" lang="uk" sz="32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Розгортання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800" y="644760"/>
            <a:ext cx="4800600" cy="419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2"/>
          <p:cNvSpPr/>
          <p:nvPr/>
        </p:nvSpPr>
        <p:spPr>
          <a:xfrm>
            <a:off x="8424360" y="4606200"/>
            <a:ext cx="991800" cy="3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uk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3"/>
          <p:cNvSpPr txBox="1"/>
          <p:nvPr>
            <p:ph type="title"/>
          </p:nvPr>
        </p:nvSpPr>
        <p:spPr>
          <a:xfrm>
            <a:off x="311760" y="-35280"/>
            <a:ext cx="8520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Economica"/>
              <a:buNone/>
            </a:pPr>
            <a:r>
              <a:rPr b="0" lang="uk" sz="3200" strike="noStrike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rPr>
              <a:t>Результати та висновки</a:t>
            </a:r>
            <a:endParaRPr b="0" sz="32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5" name="Google Shape;17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920" y="4359600"/>
            <a:ext cx="861840" cy="58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3"/>
          <p:cNvSpPr/>
          <p:nvPr/>
        </p:nvSpPr>
        <p:spPr>
          <a:xfrm>
            <a:off x="8424360" y="4606200"/>
            <a:ext cx="991800" cy="3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uk" sz="140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sz="1400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395288" y="857250"/>
            <a:ext cx="83535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uk" sz="15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У результаті виконання курсового проєкту розроблено серверну частину </a:t>
            </a:r>
            <a:r>
              <a:rPr b="1" lang="uk" sz="15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Watchly</a:t>
            </a:r>
            <a:r>
              <a:rPr b="0" lang="uk" sz="15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sz="153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78" name="Google Shape;178;p13"/>
          <p:cNvGrpSpPr/>
          <p:nvPr/>
        </p:nvGrpSpPr>
        <p:grpSpPr>
          <a:xfrm>
            <a:off x="395288" y="1333500"/>
            <a:ext cx="8353575" cy="2571750"/>
            <a:chOff x="0" y="0"/>
            <a:chExt cx="8353575" cy="2571750"/>
          </a:xfrm>
        </p:grpSpPr>
        <p:grpSp>
          <p:nvGrpSpPr>
            <p:cNvPr id="179" name="Google Shape;179;p13"/>
            <p:cNvGrpSpPr/>
            <p:nvPr/>
          </p:nvGrpSpPr>
          <p:grpSpPr>
            <a:xfrm>
              <a:off x="0" y="0"/>
              <a:ext cx="4095900" cy="857400"/>
              <a:chOff x="0" y="0"/>
              <a:chExt cx="4095900" cy="857400"/>
            </a:xfrm>
          </p:grpSpPr>
          <p:sp>
            <p:nvSpPr>
              <p:cNvPr id="180" name="Google Shape;180;p13"/>
              <p:cNvSpPr/>
              <p:nvPr/>
            </p:nvSpPr>
            <p:spPr>
              <a:xfrm>
                <a:off x="0" y="0"/>
                <a:ext cx="40959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3"/>
              <p:cNvSpPr txBox="1"/>
              <p:nvPr/>
            </p:nvSpPr>
            <p:spPr>
              <a:xfrm>
                <a:off x="142875" y="95250"/>
                <a:ext cx="3810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1300">
                    <a:solidFill>
                      <a:srgbClr val="0369A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API та Безпека</a:t>
                </a:r>
                <a:endParaRPr b="1" sz="1300">
                  <a:solidFill>
                    <a:srgbClr val="0369A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uk" sz="105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REST API, автентифікація та рольова авторизація для користувачів.</a:t>
                </a:r>
                <a:endParaRPr b="0" sz="105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82" name="Google Shape;182;p13"/>
            <p:cNvGrpSpPr/>
            <p:nvPr/>
          </p:nvGrpSpPr>
          <p:grpSpPr>
            <a:xfrm>
              <a:off x="4257675" y="0"/>
              <a:ext cx="4095900" cy="857400"/>
              <a:chOff x="0" y="0"/>
              <a:chExt cx="4095900" cy="857400"/>
            </a:xfrm>
          </p:grpSpPr>
          <p:sp>
            <p:nvSpPr>
              <p:cNvPr id="183" name="Google Shape;183;p13"/>
              <p:cNvSpPr/>
              <p:nvPr/>
            </p:nvSpPr>
            <p:spPr>
              <a:xfrm>
                <a:off x="0" y="0"/>
                <a:ext cx="40959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F0F9FF"/>
              </a:solidFill>
              <a:ln cap="flat" cmpd="sng" w="9525">
                <a:solidFill>
                  <a:srgbClr val="BAE6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3"/>
              <p:cNvSpPr txBox="1"/>
              <p:nvPr/>
            </p:nvSpPr>
            <p:spPr>
              <a:xfrm>
                <a:off x="142875" y="95250"/>
                <a:ext cx="3810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1300">
                    <a:solidFill>
                      <a:srgbClr val="0369A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Інфраструктура</a:t>
                </a:r>
                <a:endParaRPr b="1" sz="1300">
                  <a:solidFill>
                    <a:srgbClr val="0369A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uk" sz="105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Інтеграція з PostgreSQL, Redis та зовнішніми сервісами.</a:t>
                </a:r>
                <a:endParaRPr b="0" sz="105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85" name="Google Shape;185;p13"/>
            <p:cNvGrpSpPr/>
            <p:nvPr/>
          </p:nvGrpSpPr>
          <p:grpSpPr>
            <a:xfrm>
              <a:off x="0" y="1000125"/>
              <a:ext cx="4095900" cy="857400"/>
              <a:chOff x="0" y="0"/>
              <a:chExt cx="4095900" cy="857400"/>
            </a:xfrm>
          </p:grpSpPr>
          <p:sp>
            <p:nvSpPr>
              <p:cNvPr id="186" name="Google Shape;186;p13"/>
              <p:cNvSpPr/>
              <p:nvPr/>
            </p:nvSpPr>
            <p:spPr>
              <a:xfrm>
                <a:off x="0" y="0"/>
                <a:ext cx="40959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3"/>
              <p:cNvSpPr txBox="1"/>
              <p:nvPr/>
            </p:nvSpPr>
            <p:spPr>
              <a:xfrm>
                <a:off x="142875" y="95250"/>
                <a:ext cx="3810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1300">
                    <a:solidFill>
                      <a:srgbClr val="0369A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Архітектура</a:t>
                </a:r>
                <a:endParaRPr b="1" sz="1300">
                  <a:solidFill>
                    <a:srgbClr val="0369A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uk" sz="105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Модульна структура: Api, Application, Domain та Infrastructure.</a:t>
                </a:r>
                <a:endParaRPr b="0" sz="105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88" name="Google Shape;188;p13"/>
            <p:cNvGrpSpPr/>
            <p:nvPr/>
          </p:nvGrpSpPr>
          <p:grpSpPr>
            <a:xfrm>
              <a:off x="4257675" y="1000125"/>
              <a:ext cx="4095900" cy="857400"/>
              <a:chOff x="0" y="0"/>
              <a:chExt cx="4095900" cy="857400"/>
            </a:xfrm>
          </p:grpSpPr>
          <p:sp>
            <p:nvSpPr>
              <p:cNvPr id="189" name="Google Shape;189;p13"/>
              <p:cNvSpPr/>
              <p:nvPr/>
            </p:nvSpPr>
            <p:spPr>
              <a:xfrm>
                <a:off x="0" y="0"/>
                <a:ext cx="4095900" cy="857400"/>
              </a:xfrm>
              <a:prstGeom prst="roundRect">
                <a:avLst>
                  <a:gd fmla="val 8888" name="adj"/>
                </a:avLst>
              </a:prstGeom>
              <a:solidFill>
                <a:srgbClr val="F0F9FF"/>
              </a:solidFill>
              <a:ln cap="flat" cmpd="sng" w="9525">
                <a:solidFill>
                  <a:srgbClr val="BAE6F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3"/>
              <p:cNvSpPr txBox="1"/>
              <p:nvPr/>
            </p:nvSpPr>
            <p:spPr>
              <a:xfrm>
                <a:off x="142875" y="95250"/>
                <a:ext cx="38100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1300">
                    <a:solidFill>
                      <a:srgbClr val="0369A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Бізнес-логіка</a:t>
                </a:r>
                <a:endParaRPr b="1" sz="1300">
                  <a:solidFill>
                    <a:srgbClr val="0369A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uk" sz="105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Відстеження фільмів, серіалів та епізодів у реальному часі.</a:t>
                </a:r>
                <a:endParaRPr b="0" sz="105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91" name="Google Shape;191;p13"/>
            <p:cNvGrpSpPr/>
            <p:nvPr/>
          </p:nvGrpSpPr>
          <p:grpSpPr>
            <a:xfrm>
              <a:off x="0" y="2000250"/>
              <a:ext cx="8353500" cy="571500"/>
              <a:chOff x="0" y="0"/>
              <a:chExt cx="8353500" cy="571500"/>
            </a:xfrm>
          </p:grpSpPr>
          <p:sp>
            <p:nvSpPr>
              <p:cNvPr id="192" name="Google Shape;192;p13"/>
              <p:cNvSpPr/>
              <p:nvPr/>
            </p:nvSpPr>
            <p:spPr>
              <a:xfrm>
                <a:off x="0" y="0"/>
                <a:ext cx="8353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F8FAFC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3"/>
              <p:cNvSpPr txBox="1"/>
              <p:nvPr/>
            </p:nvSpPr>
            <p:spPr>
              <a:xfrm>
                <a:off x="142875" y="47625"/>
                <a:ext cx="80676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uk" sz="1300">
                    <a:solidFill>
                      <a:srgbClr val="0369A1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Висновок</a:t>
                </a:r>
                <a:endParaRPr b="1" sz="1300">
                  <a:solidFill>
                    <a:srgbClr val="0369A1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b="0" lang="uk" sz="1050">
                    <a:solidFill>
                      <a:srgbClr val="64748B"/>
                    </a:solidFill>
                    <a:latin typeface="Open Sans"/>
                    <a:ea typeface="Open Sans"/>
                    <a:cs typeface="Open Sans"/>
                    <a:sym typeface="Open Sans"/>
                  </a:rPr>
                  <a:t>Створено надійну основу для подальшого масштабування та розвитку системи.</a:t>
                </a:r>
                <a:endParaRPr b="0" sz="1050">
                  <a:solidFill>
                    <a:srgbClr val="64748B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2026-06-10T10:02:25Z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Экран (16:9)</vt:lpwstr>
  </property>
  <property fmtid="{D5CDD505-2E9C-101B-9397-08002B2CF9AE}" pid="4" name="Slides">
    <vt:i4>13</vt:i4>
  </property>
</Properties>
</file>